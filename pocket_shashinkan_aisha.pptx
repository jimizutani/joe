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3f274c8e-ac73-3bb1-ab46-35276784a6c4}">
          <p14:sldIdLst>
            <p14:sldId id="256"/>
          </p14:sldIdLst>
        </p14:section>
        <p14:section name="要約" id="{2a68a45c-f9bb-b98f-6f6e-a7b05984e6f0}">
          <p14:sldIdLst>
            <p14:sldId id="257"/>
          </p14:sldIdLst>
        </p14:section>
        <p14:section name="背景とコンセプト" id="{7b102364-cf0c-f70b-6c1c-9979209f1666}">
          <p14:sldIdLst>
            <p14:sldId id="258"/>
            <p14:sldId id="259"/>
          </p14:sldIdLst>
        </p14:section>
        <p14:section name="事業モデル" id="{b5ca6067-e093-f819-8220-ac4c802c2c76}">
          <p14:sldIdLst>
            <p14:sldId id="260"/>
            <p14:sldId id="261"/>
            <p14:sldId id="262"/>
            <p14:sldId id="263"/>
          </p14:sldIdLst>
        </p14:section>
        <p14:section name="競合とリスク" id="{f527d39f-be2e-f187-7680-1c8df1ca96e0}">
          <p14:sldIdLst>
            <p14:sldId id="264"/>
            <p14:sldId id="265"/>
            <p14:sldId id="266"/>
          </p14:sldIdLst>
        </p14:section>
        <p14:section name="将来の展開" id="{ecabbb91-ab8c-304e-e043-8753dd0d921c}">
          <p14:sldIdLst>
            <p14:sldId id="267"/>
            <p14:sldId id="268"/>
          </p14:sldIdLst>
        </p14:section>
        <p14:section name="ブランドと話題づくり" id="{bbd25b79-ab39-39fb-e3b6-18e3910e1287}">
          <p14:sldIdLst>
            <p14:sldId id="269"/>
            <p14:sldId id="270"/>
            <p14:sldId id="271"/>
          </p14:sldIdLst>
        </p14:section>
        <p14:section name="試作" id="{0d4ac17f-f97c-4848-85f7-8325b77a8b96}">
          <p14:sldIdLst>
            <p14:sldId id="272"/>
          </p14:sldIdLst>
        </p14:section>
        <p14:section name="まとめ" id="{db2bd941-e098-11b5-4b41-cae8cbe7ec0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+mn-lt"/>
              </a:rPr>
              <a:t>スタジオアリス 売上高（億円）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売上高（億円）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2025年2月期</c:v>
                  </c:pt>
                  <c:pt idx="1">
                    <c:v>2026年2月期</c:v>
                  </c:pt>
                  <c:pt idx="2">
                    <c:v>2027年2月期（会社予想）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</c:v>
                </c:pt>
                <c:pt idx="1">
                  <c:v>329.3</c:v>
                </c:pt>
                <c:pt idx="2">
                  <c:v>336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+mn-lt"/>
              </a:rPr>
              <a:t>売上と営業利益（万円・基本シナリオ）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</c:v>
                </c:pt>
                <c:pt idx="1">
                  <c:v>4400</c:v>
                </c:pt>
                <c:pt idx="2">
                  <c:v>12000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C23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-102</c:v>
                </c:pt>
                <c:pt idx="1">
                  <c:v>1262</c:v>
                </c:pt>
                <c:pt idx="2">
                  <c:v>4208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+mn-lt"/>
              </a:rPr>
              <a:t>2年目の月別売上（万円）　年間4,400万円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月別売上（万円）</c:v>
                </c:pt>
              </c:strCache>
            </c:strRef>
          </c:tx>
          <c:spPr>
            <a:solidFill>
              <a:srgbClr val="BFC4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271</c:v>
                </c:pt>
                <c:pt idx="1">
                  <c:v>135</c:v>
                </c:pt>
                <c:pt idx="2">
                  <c:v>338</c:v>
                </c:pt>
                <c:pt idx="3">
                  <c:v>305</c:v>
                </c:pt>
                <c:pt idx="4">
                  <c:v>271</c:v>
                </c:pt>
                <c:pt idx="5">
                  <c:v>237</c:v>
                </c:pt>
                <c:pt idx="6">
                  <c:v>271</c:v>
                </c:pt>
                <c:pt idx="7">
                  <c:v>203</c:v>
                </c:pt>
                <c:pt idx="8">
                  <c:v>406</c:v>
                </c:pt>
                <c:pt idx="9">
                  <c:v>677</c:v>
                </c:pt>
                <c:pt idx="10">
                  <c:v>745</c:v>
                </c:pt>
                <c:pt idx="11">
                  <c:v>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433"/>
                </a:solidFill>
                <a:latin typeface="+mn-lt"/>
              </a:rPr>
              <a:t>AIで置き換える10のアイデア（市場・始めやすさ・競合の少なさ・相性、各5点）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合計点（20点満点）</c:v>
                </c:pt>
              </c:strCache>
            </c:strRef>
          </c:tx>
          <c:spPr>
            <a:solidFill>
              <a:srgbClr val="BFC4C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C4C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23A2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オーダースーツ採寸</c:v>
                  </c:pt>
                  <c:pt idx="1">
                    <c:v>メガネ（試着・郵送）</c:v>
                  </c:pt>
                  <c:pt idx="2">
                    <c:v>英会話</c:v>
                  </c:pt>
                  <c:pt idx="3">
                    <c:v>家庭教師</c:v>
                  </c:pt>
                  <c:pt idx="4">
                    <c:v>不動産ホームステージング</c:v>
                  </c:pt>
                  <c:pt idx="5">
                    <c:v>就活・プロフィール写真</c:v>
                  </c:pt>
                  <c:pt idx="6">
                    <c:v>ペットの肖像画</c:v>
                  </c:pt>
                  <c:pt idx="7">
                    <c:v>フォトウェディング</c:v>
                  </c:pt>
                  <c:pt idx="8">
                    <c:v>遺影写真</c:v>
                  </c:pt>
                  <c:pt idx="9">
                    <c:v>七五三・家族写真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13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6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ポケット写真館 by 愛写｜事業構想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8j0ntlcm91z4.cloudfront.net/user_3KCbElYLTsh1mwAEmr4GD4J8mK0/hf_20261013_102649_cbdd375a-d607-452e-9992-a9348aa8046e.png" TargetMode="External"/><Relationship Id="rId2" Type="http://schemas.openxmlformats.org/officeDocument/2006/relationships/hyperlink" Target="https://d8j0ntlcm91z4.cloudfront.net/user_3KCbElYLTsh1mwAEmr4GD4J8mK0/hf_20261013_102730_7dc8f754-c673-4cde-9431-d3e984ce17e1.png" TargetMode="External"/><Relationship Id="rId3" Type="http://schemas.openxmlformats.org/officeDocument/2006/relationships/hyperlink" Target="https://d8j0ntlcm91z4.cloudfront.net/user_3KCbElYLTsh1mwAEmr4GD4J8mK0/hf_20261013_102730_620dca1b-9809-4b02-83f3-e581e8dee4a9.png" TargetMode="External"/><Relationship Id="rId4" Type="http://schemas.openxmlformats.org/officeDocument/2006/relationships/hyperlink" Target="https://d8j0ntlcm91z4.cloudfront.net/user_3KCbElYLTsh1mwAEmr4GD4J8mK0/hf_20261013_102731_9892ab1a-e6b9-4b73-beb7-3c02326a2a35.png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ポケット写真館 by 愛写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七五三から始まる、自宅のスマホで完結するAI家族写真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EDA"/>
                </a:solidFill>
              </a:rPr>
              <a:t>事業構想まとめ（2026年10月13日時点）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890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愛車より、愛写。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スタジオの10分の1の価格で、七五三を自宅で完結させる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54864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1/10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写真館（2〜7万円）と比べた価格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38328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11/15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七五三の日に公開予定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21792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1.2億円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3年目の売上計画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9052560" y="13716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3年目の営業利益率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66160"/>
            <a:ext cx="11064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リアルな家族の写真に、AIで衣装と背景だけを合成。スタジオに行かず、自宅のスマホで完結する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七五三を入口に、お正月・誕生日・クリスマスなど年間行事でくり返し使ってもらう（年間パス9,800円）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「七五三が753円」キャンペーンと「愛車より、愛写。」で公開時に話題を作る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競合は写真館よりも無料の汎用AI。作法の正しさ・成長アルバム・印刷で差をつける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最大手のスタジオアリスも減収減益、スタジオ撮影は伸び悩み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arket-0"/>
          <p:cNvSpPr/>
          <p:nvPr/>
        </p:nvSpPr>
        <p:spPr>
          <a:xfrm>
            <a:off x="7406640" y="13716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481328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−30.6%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2026年2月期の営業利益（21.0億円）の前期比</a:t>
            </a:r>
            <a:endParaRPr lang="en-US" sz="1400" dirty="0"/>
          </a:p>
        </p:txBody>
      </p:sp>
      <p:sp>
        <p:nvSpPr>
          <p:cNvPr id="7" name="market-1"/>
          <p:cNvSpPr/>
          <p:nvPr/>
        </p:nvSpPr>
        <p:spPr>
          <a:xfrm>
            <a:off x="7406640" y="283464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944368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2〜7万円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写真館での七五三撮影の相場</a:t>
            </a:r>
            <a:endParaRPr lang="en-US" sz="1400" dirty="0"/>
          </a:p>
        </p:txBody>
      </p:sp>
      <p:sp>
        <p:nvSpPr>
          <p:cNvPr id="10" name="market-2"/>
          <p:cNvSpPr/>
          <p:nvPr/>
        </p:nvSpPr>
        <p:spPr>
          <a:xfrm>
            <a:off x="7406640" y="429768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4407408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10/14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502920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中間決算の発表予定日（本資料では未反映）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出典：Yahoo!ファイナンス、株探、IRBank（スタジオアリス決算）、ミツモア（七五三撮影の相場）。2025年2月期の売上高は2026年2月期の前期比から逆算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リアルな家族 × AIの衣装と背景 ＝ 自宅で完結する記念写真</a:t>
            </a:r>
            <a:endParaRPr lang="en-US" sz="2800" dirty="0"/>
          </a:p>
        </p:txBody>
      </p:sp>
      <p:sp>
        <p:nvSpPr>
          <p:cNvPr id="3" name="real"/>
          <p:cNvSpPr/>
          <p:nvPr/>
        </p:nvSpPr>
        <p:spPr>
          <a:xfrm>
            <a:off x="548640" y="137160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リアル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子どもと家族の顔・表情・体。自然に「盛る」補正だけ</a:t>
            </a:r>
            <a:endParaRPr lang="en-US" sz="1400" dirty="0"/>
          </a:p>
        </p:txBody>
      </p:sp>
      <p:sp>
        <p:nvSpPr>
          <p:cNvPr id="5" name="ai"/>
          <p:cNvSpPr/>
          <p:nvPr/>
        </p:nvSpPr>
        <p:spPr>
          <a:xfrm>
            <a:off x="548640" y="30175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6E3DF"/>
          </a:solidFill>
          <a:ln w="9525">
            <a:solidFill>
              <a:srgbClr val="F6E3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2743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衣装（被布・袴・振袖など）と背景（神社・和室・紅葉）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0" y="2514600"/>
            <a:ext cx="548640" cy="457200"/>
          </a:xfrm>
          <a:prstGeom prst="rightArrow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8" name="result"/>
          <p:cNvSpPr/>
          <p:nvPr/>
        </p:nvSpPr>
        <p:spPr>
          <a:xfrm>
            <a:off x="4480560" y="2011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自宅のスマホで完結する記念写真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スタジオの困りごと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ポケット写真館なら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予約が取れない、待ち時間が長い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自宅でいつでも何回でも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着付けや撮影で子どもがぐずる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普段着で機嫌のよい一瞬を撮るだけ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合計数万円、データは追加料金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数千円でデータはすべて手元に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衣装の数に限りがある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衣装も背景も選び放題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家族の予定を合わせるのが大変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別々に撮った写真も合成（将来）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937760"/>
            <a:ext cx="6035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「盛る」の加減が品質の決め手。顔立ちは変えず、親が「うちの子」と思える自然さを守る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七五三を入口に、年間の行事でくり返し使ってもらう</a:t>
            </a:r>
            <a:endParaRPr lang="en-US" sz="2800" dirty="0"/>
          </a:p>
        </p:txBody>
      </p:sp>
      <p:sp>
        <p:nvSpPr>
          <p:cNvPr id="3" name="month-1"/>
          <p:cNvSpPr/>
          <p:nvPr/>
        </p:nvSpPr>
        <p:spPr>
          <a:xfrm>
            <a:off x="548640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1月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お正月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晴れ着・羽織</a:t>
            </a:r>
            <a:endParaRPr lang="en-US" sz="1200" dirty="0"/>
          </a:p>
        </p:txBody>
      </p:sp>
      <p:sp>
        <p:nvSpPr>
          <p:cNvPr id="7" name="month-2"/>
          <p:cNvSpPr/>
          <p:nvPr/>
        </p:nvSpPr>
        <p:spPr>
          <a:xfrm>
            <a:off x="2404872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節分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鬼・お多福</a:t>
            </a:r>
            <a:endParaRPr lang="en-US" sz="1200" dirty="0"/>
          </a:p>
        </p:txBody>
      </p:sp>
      <p:sp>
        <p:nvSpPr>
          <p:cNvPr id="11" name="month-3"/>
          <p:cNvSpPr/>
          <p:nvPr/>
        </p:nvSpPr>
        <p:spPr>
          <a:xfrm>
            <a:off x="4261104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8264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3月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398264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ひな祭り・卒園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小袖・袴</a:t>
            </a:r>
            <a:endParaRPr lang="en-US" sz="1200" dirty="0"/>
          </a:p>
        </p:txBody>
      </p:sp>
      <p:sp>
        <p:nvSpPr>
          <p:cNvPr id="15" name="month-4"/>
          <p:cNvSpPr/>
          <p:nvPr/>
        </p:nvSpPr>
        <p:spPr>
          <a:xfrm>
            <a:off x="6117336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4月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入園・入学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制服風・桜</a:t>
            </a:r>
            <a:endParaRPr lang="en-US" sz="1200" dirty="0"/>
          </a:p>
        </p:txBody>
      </p:sp>
      <p:sp>
        <p:nvSpPr>
          <p:cNvPr id="19" name="month-5"/>
          <p:cNvSpPr/>
          <p:nvPr/>
        </p:nvSpPr>
        <p:spPr>
          <a:xfrm>
            <a:off x="7973568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0728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5月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110728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こどもの日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10728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鎧・兜</a:t>
            </a:r>
            <a:endParaRPr lang="en-US" sz="1200" dirty="0"/>
          </a:p>
        </p:txBody>
      </p:sp>
      <p:sp>
        <p:nvSpPr>
          <p:cNvPr id="23" name="month-6"/>
          <p:cNvSpPr/>
          <p:nvPr/>
        </p:nvSpPr>
        <p:spPr>
          <a:xfrm>
            <a:off x="9829800" y="137160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669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6月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七五三前撮り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被布・袴</a:t>
            </a:r>
            <a:endParaRPr lang="en-US" sz="1200" dirty="0"/>
          </a:p>
        </p:txBody>
      </p:sp>
      <p:sp>
        <p:nvSpPr>
          <p:cNvPr id="27" name="month-7"/>
          <p:cNvSpPr/>
          <p:nvPr/>
        </p:nvSpPr>
        <p:spPr>
          <a:xfrm>
            <a:off x="548640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7月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七五三前撮り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新緑の神社</a:t>
            </a:r>
            <a:endParaRPr lang="en-US" sz="1200" dirty="0"/>
          </a:p>
        </p:txBody>
      </p:sp>
      <p:sp>
        <p:nvSpPr>
          <p:cNvPr id="31" name="month-8"/>
          <p:cNvSpPr/>
          <p:nvPr/>
        </p:nvSpPr>
        <p:spPr>
          <a:xfrm>
            <a:off x="2404872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42032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8月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2542032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七五三前撮り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542032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衣装選び</a:t>
            </a:r>
            <a:endParaRPr lang="en-US" sz="1200" dirty="0"/>
          </a:p>
        </p:txBody>
      </p:sp>
      <p:sp>
        <p:nvSpPr>
          <p:cNvPr id="35" name="month-9"/>
          <p:cNvSpPr/>
          <p:nvPr/>
        </p:nvSpPr>
        <p:spPr>
          <a:xfrm>
            <a:off x="4261104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6E3DF"/>
          </a:solidFill>
          <a:ln w="15875">
            <a:solidFill>
              <a:srgbClr val="C23A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98264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9月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4398264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398264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紅葉の神社</a:t>
            </a:r>
            <a:endParaRPr lang="en-US" sz="1200" dirty="0"/>
          </a:p>
        </p:txBody>
      </p:sp>
      <p:sp>
        <p:nvSpPr>
          <p:cNvPr id="39" name="month-10"/>
          <p:cNvSpPr/>
          <p:nvPr/>
        </p:nvSpPr>
        <p:spPr>
          <a:xfrm>
            <a:off x="6117336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6E3DF"/>
          </a:solidFill>
          <a:ln w="15875">
            <a:solidFill>
              <a:srgbClr val="C23A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54496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10月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6254496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254496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最大の山</a:t>
            </a:r>
            <a:endParaRPr lang="en-US" sz="1200" dirty="0"/>
          </a:p>
        </p:txBody>
      </p:sp>
      <p:sp>
        <p:nvSpPr>
          <p:cNvPr id="43" name="month-11"/>
          <p:cNvSpPr/>
          <p:nvPr/>
        </p:nvSpPr>
        <p:spPr>
          <a:xfrm>
            <a:off x="7973568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6E3DF"/>
          </a:solidFill>
          <a:ln w="15875">
            <a:solidFill>
              <a:srgbClr val="C23A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10728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11月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8110728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七五三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110728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最大の山</a:t>
            </a:r>
            <a:endParaRPr lang="en-US" sz="1200" dirty="0"/>
          </a:p>
        </p:txBody>
      </p:sp>
      <p:sp>
        <p:nvSpPr>
          <p:cNvPr id="47" name="month-12"/>
          <p:cNvSpPr/>
          <p:nvPr/>
        </p:nvSpPr>
        <p:spPr>
          <a:xfrm>
            <a:off x="9829800" y="3246120"/>
            <a:ext cx="1719072" cy="1691640"/>
          </a:xfrm>
          <a:prstGeom prst="roundRect">
            <a:avLst>
              <a:gd name="adj" fmla="val 4324"/>
            </a:avLst>
          </a:prstGeom>
          <a:solidFill>
            <a:srgbClr val="F6E3DF"/>
          </a:solidFill>
          <a:ln w="15875">
            <a:solidFill>
              <a:srgbClr val="C23A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66960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12月</a:t>
            </a:r>
            <a:endParaRPr lang="en-US" sz="2200" dirty="0"/>
          </a:p>
        </p:txBody>
      </p:sp>
      <p:sp>
        <p:nvSpPr>
          <p:cNvPr id="49" name="Text 47"/>
          <p:cNvSpPr txBox="1"/>
          <p:nvPr/>
        </p:nvSpPr>
        <p:spPr>
          <a:xfrm>
            <a:off x="996696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クリスマス・年賀状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966960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サンタ・ツリー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通年：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誕生日・ハーフバースデー（登録した誕生日の2週間前にLINEでお知らせ）、お宮参り・百日祝い。9〜12月で売上の約55%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主力は家族プラン2,980円と年間パス9,800円</a:t>
            </a:r>
            <a:endParaRPr lang="en-US" sz="2800" dirty="0"/>
          </a:p>
        </p:txBody>
      </p:sp>
      <p:sp>
        <p:nvSpPr>
          <p:cNvPr id="3" name="plan-0"/>
          <p:cNvSpPr/>
          <p:nvPr/>
        </p:nvSpPr>
        <p:spPr>
          <a:xfrm>
            <a:off x="54864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</a:rPr>
              <a:t>お試し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3A2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無料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2枚まで・透かし入り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</a:rPr>
              <a:t>品質を確かめる入口</a:t>
            </a:r>
            <a:endParaRPr lang="en-US" sz="1300" dirty="0"/>
          </a:p>
        </p:txBody>
      </p:sp>
      <p:sp>
        <p:nvSpPr>
          <p:cNvPr id="8" name="plan-1"/>
          <p:cNvSpPr/>
          <p:nvPr/>
        </p:nvSpPr>
        <p:spPr>
          <a:xfrm>
            <a:off x="338328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55448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</a:rPr>
              <a:t>スタンダード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3A2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1,980円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子ども1人・1行事・高画質10枚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</a:rPr>
              <a:t>誕生日などに単発で</a:t>
            </a:r>
            <a:endParaRPr lang="en-US" sz="1300" dirty="0"/>
          </a:p>
        </p:txBody>
      </p:sp>
      <p:sp>
        <p:nvSpPr>
          <p:cNvPr id="13" name="plan-2"/>
          <p:cNvSpPr/>
          <p:nvPr/>
        </p:nvSpPr>
        <p:spPr>
          <a:xfrm>
            <a:off x="621792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55448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家族プラン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90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2,980円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家族全員・1行事・高画質30枚・年賀状サイズ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CEDA"/>
                </a:solidFill>
              </a:rPr>
              <a:t>七五三・お正月の主力</a:t>
            </a:r>
            <a:endParaRPr lang="en-US" sz="1300" dirty="0"/>
          </a:p>
        </p:txBody>
      </p:sp>
      <p:sp>
        <p:nvSpPr>
          <p:cNvPr id="18" name="plan-3"/>
          <p:cNvSpPr/>
          <p:nvPr/>
        </p:nvSpPr>
        <p:spPr>
          <a:xfrm>
            <a:off x="905256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55448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</a:rPr>
              <a:t>年間パス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3A2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9,800円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017520"/>
            <a:ext cx="2240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1年間・全行事・家族全員・毎月30枚・成長アルバム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</a:rPr>
              <a:t>4回以上使うならお得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比較：写真館の七五三は2〜7万円。2年目からプリント・フォトブック・年賀状印刷（1,500円〜）を追加。決済はStripe（手数料約3.6%）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1年目は約100万円の赤字、3年目に営業利益約4,200万円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63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2年目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無料お試しの利用者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4万人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16万人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40万人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有料に進む割合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有料のお客様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2,000人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8,000人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20,000人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うち年間パス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1人あたり年間購入額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4,500円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5,500円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6,000円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費用合計（万円）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3,138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7,792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−11%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29%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949440" y="5212080"/>
            <a:ext cx="4663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AI生成費は1枚約10円で見込み、有料客1人あたり700〜800円。広告費は1年目300万円→3年目3,000万円。プリント売上と税金は含めない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売上の約45%が10〜12月に集中する（2年目の月別売上）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778240" y="1463040"/>
            <a:ext cx="28346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3A2B"/>
                </a:solidFill>
              </a:rPr>
              <a:t>11月が最大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11月は約745万円で、2月（約135万円）の5倍以上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324D"/>
                </a:solidFill>
              </a:rPr>
              <a:t>資金繰りの備え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2月や6〜8月は赤字になりやすい。年間パスで売上を前倒しで受け取り、誕生日やお宮参りなど通年の行事を育てる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本計画の試算：2年目の売上4,400万円を、月ごとの需要の比率で配分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最大の競合は写真館ではなく、無料で使える汎用AI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320040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競合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価格の目安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相手の弱み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こちらの打ち手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大手写真館チェーン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2〜7万円/回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予約・待ち時間、子どもの負担、費用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10分の1以下の価格。自宅で機嫌のよい瞬間を撮れる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汎用AI（ChatGPT、Geminiなど）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無料〜月3,000円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指示の工夫が必要。着物の作法や顔を間違えやすい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ボタンひとつで、作法に正しい七五三写真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写真加工アプリ（SNOWなど）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無料〜月数百円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加工が強く、記念写真としては安っぽい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家族の記念写真としての品と自然さ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他のAI写真館サービス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数百〜数千円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日本の行事に特化していないものが多い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年間行事に特化し、成長アルバムで囲い込む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大手写真館が自らAIサービスを始めても、店舗を持たない軽さ・価格・年間行事への特化で差をつける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特許に頼らず、8つの方法で乗り換えにくさを作る</a:t>
            </a:r>
            <a:endParaRPr lang="en-US" sz="2800" dirty="0"/>
          </a:p>
        </p:txBody>
      </p:sp>
      <p:sp>
        <p:nvSpPr>
          <p:cNvPr id="3" name="moat-1"/>
          <p:cNvSpPr/>
          <p:nvPr/>
        </p:nvSpPr>
        <p:spPr>
          <a:xfrm>
            <a:off x="54864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7276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作法に正しい品質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着付け師の監修で、右前・年齢別の衣装をルール化</a:t>
            </a:r>
            <a:endParaRPr lang="en-US" sz="1300" dirty="0"/>
          </a:p>
        </p:txBody>
      </p:sp>
      <p:sp>
        <p:nvSpPr>
          <p:cNvPr id="8" name="moat-2"/>
          <p:cNvSpPr/>
          <p:nvPr/>
        </p:nvSpPr>
        <p:spPr>
          <a:xfrm>
            <a:off x="338328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55448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57276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「うちの子」の再現度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複数候補から元の顔に最も近いものを自動で選ぶ</a:t>
            </a:r>
            <a:endParaRPr lang="en-US" sz="1300" dirty="0"/>
          </a:p>
        </p:txBody>
      </p:sp>
      <p:sp>
        <p:nvSpPr>
          <p:cNvPr id="13" name="moat-3"/>
          <p:cNvSpPr/>
          <p:nvPr/>
        </p:nvSpPr>
        <p:spPr>
          <a:xfrm>
            <a:off x="621792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57276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成長アルバム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4028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お宮参りから入学まで写真がたまり、移りにくい</a:t>
            </a:r>
            <a:endParaRPr lang="en-US" sz="1300" dirty="0"/>
          </a:p>
        </p:txBody>
      </p:sp>
      <p:sp>
        <p:nvSpPr>
          <p:cNvPr id="18" name="moat-4"/>
          <p:cNvSpPr/>
          <p:nvPr/>
        </p:nvSpPr>
        <p:spPr>
          <a:xfrm>
            <a:off x="905256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157276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行事のお知らせ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24028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誕生日や行事の前にLINEで思い出させる</a:t>
            </a:r>
            <a:endParaRPr lang="en-US" sz="1300" dirty="0"/>
          </a:p>
        </p:txBody>
      </p:sp>
      <p:sp>
        <p:nvSpPr>
          <p:cNvPr id="23" name="moat-5"/>
          <p:cNvSpPr/>
          <p:nvPr/>
        </p:nvSpPr>
        <p:spPr>
          <a:xfrm>
            <a:off x="548640" y="3611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81304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印刷まで一貫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48056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プリント・フォトブック・年賀状の発送まで</a:t>
            </a:r>
            <a:endParaRPr lang="en-US" sz="1300" dirty="0"/>
          </a:p>
        </p:txBody>
      </p:sp>
      <p:sp>
        <p:nvSpPr>
          <p:cNvPr id="28" name="moat-6"/>
          <p:cNvSpPr/>
          <p:nvPr/>
        </p:nvSpPr>
        <p:spPr>
          <a:xfrm>
            <a:off x="3383280" y="3611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379476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661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381304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権利で守る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48056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アプリ名の商標、オリジナル柄の著作権、手順は営業秘密</a:t>
            </a:r>
            <a:endParaRPr lang="en-US" sz="1300" dirty="0"/>
          </a:p>
        </p:txBody>
      </p:sp>
      <p:sp>
        <p:nvSpPr>
          <p:cNvPr id="33" name="moat-7"/>
          <p:cNvSpPr/>
          <p:nvPr/>
        </p:nvSpPr>
        <p:spPr>
          <a:xfrm>
            <a:off x="6217920" y="3611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81304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安心で選ばれる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48056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写真は学習に使わず自動削除。子どもの写真だからこそ</a:t>
            </a:r>
            <a:endParaRPr lang="en-US" sz="1300" dirty="0"/>
          </a:p>
        </p:txBody>
      </p:sp>
      <p:sp>
        <p:nvSpPr>
          <p:cNvPr id="38" name="moat-8"/>
          <p:cNvSpPr/>
          <p:nvPr/>
        </p:nvSpPr>
        <p:spPr>
          <a:xfrm>
            <a:off x="9052560" y="3611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3794760"/>
            <a:ext cx="502920" cy="502920"/>
          </a:xfrm>
          <a:prstGeom prst="ellipse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3813048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スピードと提携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235440" y="4480560"/>
            <a:ext cx="2240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行事ごとに新衣装。着物レンタルや子ども服通販と提携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最大のリスクは、有料のお客様が計画より少ないこと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汎用AIがさらに便利になる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作法の品質・成長アルバム・印刷で差をつける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AIの利用料や規約が変わる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複数のAIを切り替えられる作り。利用前に規約を確認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顔が変わる・不自然な画像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無料お試しで確認してから購入。作り直しは無料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子どもの写真の漏えい・悪用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自動削除。他人の子どもの写真は規約で禁止、保護者の同意画面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売上が秋に偏る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年間パスで前倒し。誕生日・お宮参りなど通年の行事を育てる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広告の表現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他社を名指しで比べない。インフルエンサーの投稿は「PR」表示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sensitivity"/>
          <p:cNvSpPr/>
          <p:nvPr/>
        </p:nvSpPr>
        <p:spPr>
          <a:xfrm>
            <a:off x="7863840" y="137160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6E3DF"/>
          </a:solidFill>
          <a:ln w="12700">
            <a:solidFill>
              <a:srgbClr val="F6E3D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54480"/>
            <a:ext cx="32918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有料客が計画の半分なら（3年目）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費用を抑えない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C23A2B"/>
                </a:solidFill>
              </a:rPr>
              <a:t>約−900万円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広告・SNS・人件費を半分に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E7D6B"/>
                </a:solidFill>
              </a:rPr>
              <a:t>約＋1,800万円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広告は成果を見ながら段階的に増やす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上位5つは同じ「着せ替え・背景」技術で作れる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hase-1"/>
          <p:cNvSpPr/>
          <p:nvPr/>
        </p:nvSpPr>
        <p:spPr>
          <a:xfrm>
            <a:off x="7863840" y="1371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481328"/>
            <a:ext cx="3383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1年目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七五三・家族写真で立ち上げ。ペットの肖像を集客の入口に</a:t>
            </a:r>
            <a:endParaRPr lang="en-US" sz="1300" dirty="0"/>
          </a:p>
        </p:txBody>
      </p:sp>
      <p:sp>
        <p:nvSpPr>
          <p:cNvPr id="7" name="phase-2"/>
          <p:cNvSpPr/>
          <p:nvPr/>
        </p:nvSpPr>
        <p:spPr>
          <a:xfrm>
            <a:off x="7863840" y="28803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2年目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遺影写真（生前の終活と葬儀社向け）。季節の偏りをならす</a:t>
            </a:r>
            <a:endParaRPr lang="en-US" sz="1300" dirty="0"/>
          </a:p>
        </p:txBody>
      </p:sp>
      <p:sp>
        <p:nvSpPr>
          <p:cNvPr id="10" name="phase-3"/>
          <p:cNvSpPr/>
          <p:nvPr/>
        </p:nvSpPr>
        <p:spPr>
          <a:xfrm>
            <a:off x="7863840" y="438912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4498848"/>
            <a:ext cx="3383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3年目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937760"/>
            <a:ext cx="3383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フォトウェディング・就活写真。「人生の節目のAI写真」へ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点数は概算の判断による。家庭教師・英会話・メガネ・スーツは技術も売り方も別物のため今回は見送り（メガネは在庫と加工の提携先があれば再検討）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AIは無料の道具になる、AIだけでは手に入らないものを売る</a:t>
            </a:r>
            <a:endParaRPr lang="en-US" sz="2800" dirty="0"/>
          </a:p>
        </p:txBody>
      </p:sp>
      <p:sp>
        <p:nvSpPr>
          <p:cNvPr id="3" name="pillar-1"/>
          <p:cNvSpPr/>
          <p:nvPr/>
        </p:nvSpPr>
        <p:spPr>
          <a:xfrm>
            <a:off x="548640" y="137160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79222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実物と配送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17922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1EA"/>
                </a:solidFill>
              </a:rPr>
              <a:t>印刷・メガネ・スーツなど画面の外に届くもの</a:t>
            </a:r>
            <a:endParaRPr lang="en-US" sz="1300" dirty="0"/>
          </a:p>
        </p:txBody>
      </p:sp>
      <p:sp>
        <p:nvSpPr>
          <p:cNvPr id="6" name="pillar-2"/>
          <p:cNvSpPr/>
          <p:nvPr/>
        </p:nvSpPr>
        <p:spPr>
          <a:xfrm>
            <a:off x="2798064" y="137160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35224" y="1508760"/>
            <a:ext cx="179222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たまるデータ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35224" y="2103120"/>
            <a:ext cx="17922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1EA"/>
                </a:solidFill>
              </a:rPr>
              <a:t>成長アルバム、記念日、サイズの記録</a:t>
            </a:r>
            <a:endParaRPr lang="en-US" sz="1300" dirty="0"/>
          </a:p>
        </p:txBody>
      </p:sp>
      <p:sp>
        <p:nvSpPr>
          <p:cNvPr id="9" name="pillar-3"/>
          <p:cNvSpPr/>
          <p:nvPr/>
        </p:nvSpPr>
        <p:spPr>
          <a:xfrm>
            <a:off x="5047488" y="137160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508760"/>
            <a:ext cx="179222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信頼と保証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84648" y="2103120"/>
            <a:ext cx="17922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1EA"/>
                </a:solidFill>
              </a:rPr>
              <a:t>写真の扱い、作り直し保証、専門家の監修</a:t>
            </a:r>
            <a:endParaRPr lang="en-US" sz="1300" dirty="0"/>
          </a:p>
        </p:txBody>
      </p:sp>
      <p:sp>
        <p:nvSpPr>
          <p:cNvPr id="12" name="pillar-4"/>
          <p:cNvSpPr/>
          <p:nvPr/>
        </p:nvSpPr>
        <p:spPr>
          <a:xfrm>
            <a:off x="7296912" y="137160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34072" y="1508760"/>
            <a:ext cx="179222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業界の作法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2103120"/>
            <a:ext cx="17922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1EA"/>
                </a:solidFill>
              </a:rPr>
              <a:t>七五三の着付け、葬儀のマナーなど</a:t>
            </a:r>
            <a:endParaRPr lang="en-US" sz="1300" dirty="0"/>
          </a:p>
        </p:txBody>
      </p:sp>
      <p:sp>
        <p:nvSpPr>
          <p:cNvPr id="15" name="pillar-5"/>
          <p:cNvSpPr/>
          <p:nvPr/>
        </p:nvSpPr>
        <p:spPr>
          <a:xfrm>
            <a:off x="9546336" y="137160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83496" y="1508760"/>
            <a:ext cx="179222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つながり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83496" y="2103120"/>
            <a:ext cx="17922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1EA"/>
                </a:solidFill>
              </a:rPr>
              <a:t>LINEの友だち、SNSのフォロワー、口コミ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110642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AIの進化を追い風にする：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自社でAIを作らず、外部のAIを差し替えられる作りに。進化するほど品質が上がり原価が下がる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1シーズンで投資を回収：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大きな開発投資はせず、半年で元が取れる規模で早く出して確かめる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危険信号を決めておく：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iPhoneやGoogleフォトに無料の着せ替えが入ったら方針転換の合図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転換先を用意：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写真館・葬儀社・不動産会社に仕組みを月額で提供（企業向け）、または印刷・保証へ価値を移す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値下げ競争はしない：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原価が下がった分は保証やアルバムなど付加価値に回す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「ポケット写真館 by 愛写」で、聞き間違いを話題に変える</a:t>
            </a:r>
            <a:endParaRPr lang="en-US" sz="2800" dirty="0"/>
          </a:p>
        </p:txBody>
      </p:sp>
      <p:sp>
        <p:nvSpPr>
          <p:cNvPr id="3" name="brand-hero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0515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ポケット写真館 by 愛写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90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愛車より、愛写。</a:t>
            </a:r>
            <a:endParaRPr lang="en-US" sz="2200" dirty="0"/>
          </a:p>
        </p:txBody>
      </p:sp>
      <p:sp>
        <p:nvSpPr>
          <p:cNvPr id="6" name="role-1"/>
          <p:cNvSpPr/>
          <p:nvPr/>
        </p:nvSpPr>
        <p:spPr>
          <a:xfrm>
            <a:off x="548640" y="3383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会社名・ブランド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愛写（AISHA）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31546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「AI写真」と「愛する家族を写す」の掛け言葉。将来の遺影やウェディングもこの名前でまとめる</a:t>
            </a:r>
            <a:endParaRPr lang="en-US" sz="1300" dirty="0"/>
          </a:p>
        </p:txBody>
      </p:sp>
      <p:sp>
        <p:nvSpPr>
          <p:cNvPr id="10" name="role-2"/>
          <p:cNvSpPr/>
          <p:nvPr/>
        </p:nvSpPr>
        <p:spPr>
          <a:xfrm>
            <a:off x="4297680" y="3383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最初のアプリ名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ポケット写真館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480560"/>
            <a:ext cx="31546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「スマホの中の写真館」で売りがすぐ伝わる。単独では商標登録が難しい可能性があり、「愛写」と組み合わせて出願</a:t>
            </a:r>
            <a:endParaRPr lang="en-US" sz="1300" dirty="0"/>
          </a:p>
        </p:txBody>
      </p:sp>
      <p:sp>
        <p:nvSpPr>
          <p:cNvPr id="14" name="role-3"/>
          <p:cNvSpPr/>
          <p:nvPr/>
        </p:nvSpPr>
        <p:spPr>
          <a:xfrm>
            <a:off x="8046720" y="3383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2F3F6"/>
          </a:solidFill>
          <a:ln w="9525">
            <a:solidFill>
              <a:srgbClr val="F2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キャッチコピー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愛車より、愛写。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480560"/>
            <a:ext cx="31546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「愛車」との聞き間違いをあえて面白さに。ロゴや広告では「写」の字を大きく見せる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ネット検索では写真サービスでの同名使用は見つからず。商標はJ-PlatPatで要確認。避ける名前：「はれのひ」（2018年の成人式トラブル）、「アリス」「スタジオ○○」の形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11月15日（七五三の日）に公開し、753円で話題を作る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15883" y="1371600"/>
            <a:ext cx="0" cy="443484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50123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11月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89288" y="1371600"/>
            <a:ext cx="0" cy="443484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352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12月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5140" y="1371600"/>
            <a:ext cx="0" cy="443484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9380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60991" y="1371600"/>
            <a:ext cx="0" cy="443484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95231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90139" y="2880360"/>
            <a:ext cx="0" cy="2926080"/>
          </a:xfrm>
          <a:prstGeom prst="line">
            <a:avLst/>
          </a:prstGeom>
          <a:noFill/>
          <a:ln w="12700">
            <a:solidFill>
              <a:srgbClr val="C23A2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48640" y="158191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試作・品質テスト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645920"/>
            <a:ext cx="1561171" cy="201168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26163" y="158191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10/14〜11/8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94767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SNS予告（比較動画）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66521" y="2011680"/>
            <a:ext cx="1561171" cy="201168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0844" y="194767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10/20〜11/14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1343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ママ500人アンケート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66521" y="2377440"/>
            <a:ext cx="811809" cy="201168"/>
          </a:xfrm>
          <a:prstGeom prst="roundRect">
            <a:avLst>
              <a:gd name="adj" fmla="val 50000"/>
            </a:avLst>
          </a:prstGeom>
          <a:solidFill>
            <a:srgbClr val="F2F3F6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1482" y="231343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10/20〜11/2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7919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プレスリリース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59032" y="2724912"/>
            <a:ext cx="237744" cy="237744"/>
          </a:xfrm>
          <a:prstGeom prst="diamond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3936" y="267919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11/10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3A2B"/>
                </a:solidFill>
              </a:rPr>
              <a:t>公開・753円開始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71267" y="3090672"/>
            <a:ext cx="237744" cy="237744"/>
          </a:xfrm>
          <a:prstGeom prst="diamond">
            <a:avLst/>
          </a:prstGeom>
          <a:solidFill>
            <a:srgbClr val="C23A2B"/>
          </a:solidFill>
          <a:ln w="12700">
            <a:solidFill>
              <a:srgbClr val="C23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46171" y="304495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11/15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41071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753円キャンペーン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90139" y="3474720"/>
            <a:ext cx="936702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9993" y="341071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11/15〜11/30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7647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#パジャマで七五三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90139" y="3840480"/>
            <a:ext cx="1873405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36695" y="377647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11/15〜12/15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4223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クリスマス・年賀状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89288" y="4206240"/>
            <a:ext cx="1498724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1164" y="414223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12/1〜12/25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50799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「愛車より、愛写。」動画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39075" y="4572000"/>
            <a:ext cx="936702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48930" y="450799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12/5〜12/20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87375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じいじ・ばあばへ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75778" y="4937760"/>
            <a:ext cx="1311383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60313" y="487375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12/20〜1/10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23951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お正月写真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25140" y="5303520"/>
            <a:ext cx="874256" cy="201168"/>
          </a:xfrm>
          <a:prstGeom prst="roundRect">
            <a:avLst>
              <a:gd name="adj" fmla="val 50000"/>
            </a:avLst>
          </a:prstGeom>
          <a:solidFill>
            <a:srgbClr val="F6E3DF"/>
          </a:solidFill>
          <a:ln w="9525">
            <a:solidFill>
              <a:srgbClr val="C23A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72547" y="523951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1/1〜1/15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60527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振り返り・計画更新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853928" y="5650992"/>
            <a:ext cx="237744" cy="237744"/>
          </a:xfrm>
          <a:prstGeom prst="diamond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228832" y="5605272"/>
            <a:ext cx="1280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2/14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試作が間に合わない場合は、公開を2027年6月の前撮りシーズンに移し、今年は年賀状の時期だけで試す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「七五三が753円」で先着753家族、3か月で有料約1,250家族</a:t>
            </a:r>
            <a:endParaRPr lang="en-US" sz="2800" dirty="0"/>
          </a:p>
        </p:txBody>
      </p:sp>
      <p:sp>
        <p:nvSpPr>
          <p:cNvPr id="3" name="campaign"/>
          <p:cNvSpPr/>
          <p:nvPr/>
        </p:nvSpPr>
        <p:spPr>
          <a:xfrm>
            <a:off x="548640" y="13716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26324D"/>
          </a:solidFill>
          <a:ln w="12700">
            <a:solidFill>
              <a:srgbClr val="26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七五三が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B8902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753円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44805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家族プラン（通常2,980円）を先着753家族に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11月15日〜30日、753家族に達したら終了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画面とSNSで「残り○家族」を毎日発信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値引き総額 約168万円（広告費と考える）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「先着」「期間」を明記し、残り数は実数のみ（景品表示法）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指標（2月14日まで）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目標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無料お試しの利用者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2万人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753円キャンペーン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753家族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通常価格での有料利用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500家族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年間パスへの加入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150家族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Instagram＋TikTokフォロワー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1万人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#パジャマで七五三 の投稿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ニュース・Webメディア掲載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52160" y="5120640"/>
            <a:ext cx="5760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3か月の費用は値引きを除き約130万円（広告50・インフルエンサー30・動画20・調査20・プレス配信10、万円）。値引き分で1年目の赤字は約270万円に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画像AI 3種の着せ替え品質テスト（架空の子どもの写真で実施）</a:t>
            </a:r>
            <a:endParaRPr lang="en-US" sz="2800" dirty="0"/>
          </a:p>
        </p:txBody>
      </p:sp>
      <p:sp>
        <p:nvSpPr>
          <p:cNvPr id="3" name="shot-0"/>
          <p:cNvSpPr/>
          <p:nvPr/>
        </p:nvSpPr>
        <p:spPr>
          <a:xfrm>
            <a:off x="548640" y="13716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C9CEDA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tx1"/>
                </a:solidFill>
                <a:hlinkClick r:id="rId1" invalidUrl="" action="" tgtFrame="" tooltip="Higgsfieldの生成画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画像を開く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　元写真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普段着・リビング</a:t>
            </a:r>
            <a:endParaRPr lang="en-US" sz="1200" dirty="0"/>
          </a:p>
        </p:txBody>
      </p:sp>
      <p:sp>
        <p:nvSpPr>
          <p:cNvPr id="7" name="shot-1"/>
          <p:cNvSpPr/>
          <p:nvPr/>
        </p:nvSpPr>
        <p:spPr>
          <a:xfrm>
            <a:off x="3383280" y="13716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C9CED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56616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tx1"/>
                </a:solidFill>
                <a:hlinkClick r:id="rId2" invalidUrl="" action="" tgtFrame="" tooltip="Higgsfieldの生成画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画像を開く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　Nano Banana 2.1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Google</a:t>
            </a:r>
            <a:endParaRPr lang="en-US" sz="1200" dirty="0"/>
          </a:p>
        </p:txBody>
      </p:sp>
      <p:sp>
        <p:nvSpPr>
          <p:cNvPr id="11" name="shot-2"/>
          <p:cNvSpPr/>
          <p:nvPr/>
        </p:nvSpPr>
        <p:spPr>
          <a:xfrm>
            <a:off x="6217920" y="13716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C9CED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40080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tx1"/>
                </a:solidFill>
                <a:hlinkClick r:id="rId3" invalidUrl="" action="" tgtFrame="" tooltip="Higgsfieldの生成画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画像を開く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　GPT Image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OpenAI</a:t>
            </a:r>
            <a:endParaRPr lang="en-US" sz="1200" dirty="0"/>
          </a:p>
        </p:txBody>
      </p:sp>
      <p:sp>
        <p:nvSpPr>
          <p:cNvPr id="15" name="shot-3"/>
          <p:cNvSpPr/>
          <p:nvPr/>
        </p:nvSpPr>
        <p:spPr>
          <a:xfrm>
            <a:off x="9052560" y="13716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2F3F6"/>
          </a:solidFill>
          <a:ln w="12700">
            <a:solidFill>
              <a:srgbClr val="C9CED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23544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chemeClr val="tx1"/>
                </a:solidFill>
                <a:hlinkClick r:id="rId4" invalidUrl="" action="" tgtFrame="" tooltip="Higgsfieldの生成画像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画像を開く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　FLUX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Black Forest Labs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評価の観点：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①元写真と同じ子に見えるか　②着物が右前で被布を着ているか　③「盛り」が自然か　④背景との光や影が自然か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指示：顔・表情・髪型・体型はそのまま、衣装を被布と着物に、背景を紅葉の神社に。生成画像は作業環境から取り込めなかったため、リンク先（Higgsfield）で確認してください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外部の方に意見をいただきたいこと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AIの着せ替え写真を、七五三の記念写真として買いたいと思うか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家族プラン2,980円・年間パス9,800円は妥当か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3種の画像AIのうち、どれが一番「うちの子」に見えるか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「ポケット写真館 by 愛写」「愛車より、愛写。」の印象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11月15日公開と「七五三が753円」の現実性</a:t>
            </a:r>
            <a:endParaRPr lang="en-US" sz="1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ha Shichigosan">
  <a:themeElements>
    <a:clrScheme name="Aisha Shichigosan">
      <a:dk1>
        <a:srgbClr val="1F2433"/>
      </a:dk1>
      <a:lt1>
        <a:srgbClr val="FFFFFF"/>
      </a:lt1>
      <a:dk2>
        <a:srgbClr val="26324D"/>
      </a:dk2>
      <a:lt2>
        <a:srgbClr val="F2F3F6"/>
      </a:lt2>
      <a:accent1>
        <a:srgbClr val="C23A2B"/>
      </a:accent1>
      <a:accent2>
        <a:srgbClr val="B8902A"/>
      </a:accent2>
      <a:accent3>
        <a:srgbClr val="2E7D6B"/>
      </a:accent3>
      <a:accent4>
        <a:srgbClr val="8A93A6"/>
      </a:accent4>
      <a:accent5>
        <a:srgbClr val="F6E3DF"/>
      </a:accent5>
      <a:accent6>
        <a:srgbClr val="5B6B8C"/>
      </a:accent6>
      <a:hlink>
        <a:srgbClr val="2B5FAF"/>
      </a:hlink>
      <a:folHlink>
        <a:srgbClr val="6B4FA0"/>
      </a:folHlink>
    </a:clrScheme>
    <a:fontScheme name="Aisha Shichigosan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ポケット写真館 by 愛写 事業構想</dc:title>
  <dc:subject>PptxGenJS Presentation</dc:subject>
  <dc:creator>jimizutani</dc:creator>
  <cp:lastModifiedBy>jimizutani</cp:lastModifiedBy>
  <cp:revision>1</cp:revision>
  <dcterms:created xsi:type="dcterms:W3CDTF">2026-10-13T11:36:15Z</dcterms:created>
  <dcterms:modified xsi:type="dcterms:W3CDTF">2026-10-13T11:36:15Z</dcterms:modified>
</cp:coreProperties>
</file>